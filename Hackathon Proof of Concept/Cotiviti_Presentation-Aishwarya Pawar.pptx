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C2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184F"/>
                </a:solidFill>
                <a:latin typeface="Times New Roman"/>
              </a:defRPr>
            </a:pPr>
            <a:r>
              <a:rPr dirty="0"/>
              <a:t>Cotiviti AI Intern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4C2475"/>
                </a:solidFill>
                <a:latin typeface="Times New Roman"/>
              </a:defRPr>
            </a:pPr>
            <a:r>
              <a:t>ClaimSignal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96474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4C2475"/>
                </a:solidFill>
                <a:latin typeface="Times New Roman"/>
              </a:defRPr>
            </a:pPr>
            <a:r>
              <a:rPr dirty="0"/>
              <a:t>A Grounded, Human-in-the-Loop AI for Payment-Integrity Claim Triage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88277"/>
            <a:ext cx="5166360" cy="1115568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88277"/>
            <a:ext cx="82296" cy="1115568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2543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184F"/>
                </a:solidFill>
                <a:latin typeface="Times New Roman"/>
              </a:defRPr>
            </a:pPr>
            <a:r>
              <a:t>Presenter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45477"/>
            <a:ext cx="4855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1F2D"/>
                </a:solidFill>
                <a:latin typeface="Times New Roman"/>
              </a:defRPr>
            </a:pPr>
            <a:r>
              <a:rPr dirty="0"/>
              <a:t>Aishwarya Pawar</a:t>
            </a:r>
            <a:br>
              <a:rPr dirty="0"/>
            </a:br>
            <a:r>
              <a:rPr dirty="0"/>
              <a:t>Doctorate in Information Technology, Trine University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388277"/>
            <a:ext cx="5212080" cy="1115568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0488" y="2388277"/>
            <a:ext cx="82296" cy="1115568"/>
          </a:xfrm>
          <a:prstGeom prst="rect">
            <a:avLst/>
          </a:prstGeom>
          <a:solidFill>
            <a:srgbClr val="70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525437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184F"/>
                </a:solidFill>
                <a:latin typeface="Times New Roman"/>
              </a:defRPr>
            </a:pPr>
            <a:r>
              <a:t>Prompt chosen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845477"/>
            <a:ext cx="49011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1F2D"/>
                </a:solidFill>
                <a:latin typeface="Times New Roman"/>
              </a:defRPr>
            </a:pPr>
            <a:r>
              <a:rPr dirty="0"/>
              <a:t>Clinical Decision Making and Pattern Recognition in Health Care — Chain Reasoning, Agentic Generative AI, Classification, Prediction, Inference, Clustering, &amp; Time-Series Anomaly Detection for TPO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93651"/>
            <a:ext cx="10716768" cy="1565317"/>
          </a:xfrm>
          <a:prstGeom prst="roundRect">
            <a:avLst/>
          </a:prstGeom>
          <a:solidFill>
            <a:srgbClr val="341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211365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rPr lang="en-US" dirty="0"/>
              <a:t>A candidate work sample that combines pattern-recognition models, transparent risk fusion, and a grounded LLM review agent to prioritize synthetic/de-identified healthcare claims for human payment-integrity review. Also has s</a:t>
            </a:r>
            <a:r>
              <a:rPr dirty="0"/>
              <a:t>afety boundary</a:t>
            </a:r>
            <a:r>
              <a:rPr lang="en-US" dirty="0"/>
              <a:t> where it</a:t>
            </a:r>
            <a:r>
              <a:rPr dirty="0"/>
              <a:t> does not make clinical, fraud, payment, coverage, or denial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46520"/>
            <a:ext cx="9144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D5366"/>
                </a:solidFill>
                <a:latin typeface="Times New Roman"/>
              </a:defRPr>
            </a:pPr>
            <a:r>
              <a:rPr dirty="0"/>
              <a:t>Candidate work sample | </a:t>
            </a:r>
            <a:r>
              <a:rPr lang="en-US" sz="700" dirty="0"/>
              <a:t>CMS Synthetic Scenario Benchmark Proof of Concept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1201400" y="6437376"/>
            <a:ext cx="4114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5366"/>
                </a:solidFill>
                <a:latin typeface="Times New Roman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C2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184F"/>
                </a:solidFill>
                <a:latin typeface="Times New Roman"/>
              </a:defRPr>
            </a:pPr>
            <a:r>
              <a:rPr lang="en-US" sz="2500" b="1" dirty="0"/>
              <a:t>Problem Context, Benchmark Engineering &amp; Safety Guardrails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5366"/>
                </a:solidFill>
                <a:latin typeface="Times New Roman"/>
              </a:defRPr>
            </a:pPr>
            <a:r>
              <a:t>The current POC targets payment-integrity triage; the volume and code/modifier cases are stated as next-step extensions—not current injected 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10698480" cy="1362134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82296" cy="1362134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44168"/>
            <a:ext cx="3319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184F"/>
                </a:solidFill>
                <a:latin typeface="Times New Roman"/>
              </a:defRPr>
            </a:pPr>
            <a:r>
              <a:rPr dirty="0"/>
              <a:t>1</a:t>
            </a:r>
            <a:r>
              <a:rPr lang="en-US" dirty="0"/>
              <a:t>. </a:t>
            </a:r>
            <a:r>
              <a:rPr lang="en-US" sz="1400" b="1" dirty="0"/>
              <a:t>Controlled Synthetic Anomaly Testbed</a:t>
            </a:r>
          </a:p>
          <a:p>
            <a:pPr algn="l">
              <a:defRPr sz="1400" b="1">
                <a:solidFill>
                  <a:srgbClr val="34184F"/>
                </a:solidFill>
                <a:latin typeface="Times New Roman"/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10261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a ground truth testbed using 10,000 CMS claim lines to evaluate model sensitivity.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Injected 351 precise quantitative anomalies across distinct operational vectors: 158 extreme payment spikes, 88 moderate price deviations, and 105 duplicate billing patterns.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 the real-world absence of labeled fraud data by designing a mathematically verifiable evaluation suite.</a:t>
            </a:r>
          </a:p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01400" y="6437376"/>
            <a:ext cx="4114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5366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9B9BA0E0-4DBA-5553-BA56-D5EC27C1DA2F}"/>
              </a:ext>
            </a:extLst>
          </p:cNvPr>
          <p:cNvSpPr/>
          <p:nvPr/>
        </p:nvSpPr>
        <p:spPr>
          <a:xfrm>
            <a:off x="502920" y="3052054"/>
            <a:ext cx="10698480" cy="1362134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5A62CE-6B9E-27A6-78B6-F4D25B0BDD27}"/>
              </a:ext>
            </a:extLst>
          </p:cNvPr>
          <p:cNvSpPr/>
          <p:nvPr/>
        </p:nvSpPr>
        <p:spPr>
          <a:xfrm>
            <a:off x="502920" y="3052054"/>
            <a:ext cx="82296" cy="1362134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9E0ED9-DAC2-F1C3-6EB6-79C452984E89}"/>
              </a:ext>
            </a:extLst>
          </p:cNvPr>
          <p:cNvSpPr txBox="1"/>
          <p:nvPr/>
        </p:nvSpPr>
        <p:spPr>
          <a:xfrm>
            <a:off x="685800" y="3189214"/>
            <a:ext cx="3319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184F"/>
                </a:solidFill>
                <a:latin typeface="Times New Roman"/>
              </a:defRPr>
            </a:pPr>
            <a:r>
              <a:rPr lang="en-US" dirty="0"/>
              <a:t>2. </a:t>
            </a:r>
            <a:r>
              <a:rPr lang="en-US" sz="1400" b="1" dirty="0"/>
              <a:t>Multi Vector Anomaly Coverage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99D4A5-5C5A-1BC6-4F94-19FD9D9290A0}"/>
              </a:ext>
            </a:extLst>
          </p:cNvPr>
          <p:cNvSpPr txBox="1"/>
          <p:nvPr/>
        </p:nvSpPr>
        <p:spPr>
          <a:xfrm>
            <a:off x="685800" y="3509254"/>
            <a:ext cx="102616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Implemented: Direct price and fee schedule deviations.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Implemented: Duplicate style claim submissions and temporal billing repetitions.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Implemented: High dimensional multivariate feature outliers across provider peer groups.</a:t>
            </a:r>
          </a:p>
        </p:txBody>
      </p:sp>
      <p:sp>
        <p:nvSpPr>
          <p:cNvPr id="33" name="Rounded Rectangle 5">
            <a:extLst>
              <a:ext uri="{FF2B5EF4-FFF2-40B4-BE49-F238E27FC236}">
                <a16:creationId xmlns:a16="http://schemas.microsoft.com/office/drawing/2014/main" id="{20544999-B06C-807A-C942-83F11BE5C9CB}"/>
              </a:ext>
            </a:extLst>
          </p:cNvPr>
          <p:cNvSpPr/>
          <p:nvPr/>
        </p:nvSpPr>
        <p:spPr>
          <a:xfrm>
            <a:off x="502920" y="4915358"/>
            <a:ext cx="10698480" cy="1362134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25D6E27-42FB-9FBB-FF41-7307A1D7199E}"/>
              </a:ext>
            </a:extLst>
          </p:cNvPr>
          <p:cNvSpPr/>
          <p:nvPr/>
        </p:nvSpPr>
        <p:spPr>
          <a:xfrm>
            <a:off x="502920" y="4915358"/>
            <a:ext cx="82296" cy="1362134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57FFFF-C647-90A8-9891-839CC2F1962A}"/>
              </a:ext>
            </a:extLst>
          </p:cNvPr>
          <p:cNvSpPr txBox="1"/>
          <p:nvPr/>
        </p:nvSpPr>
        <p:spPr>
          <a:xfrm>
            <a:off x="685799" y="5052518"/>
            <a:ext cx="5071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184F"/>
                </a:solidFill>
                <a:latin typeface="Times New Roman"/>
              </a:defRPr>
            </a:pPr>
            <a:r>
              <a:rPr lang="en-US" dirty="0"/>
              <a:t>3. </a:t>
            </a:r>
            <a:r>
              <a:rPr lang="en-US" sz="1400" b="1" dirty="0"/>
              <a:t>Data Integrity and Leakage Prevention</a:t>
            </a:r>
          </a:p>
          <a:p>
            <a:pPr>
              <a:defRPr sz="1400" b="1">
                <a:solidFill>
                  <a:srgbClr val="34184F"/>
                </a:solidFill>
                <a:latin typeface="Times New Roman"/>
              </a:defRPr>
            </a:pP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D81DB9-8642-DA95-1DC1-3E070DC8FB0E}"/>
              </a:ext>
            </a:extLst>
          </p:cNvPr>
          <p:cNvSpPr txBox="1"/>
          <p:nvPr/>
        </p:nvSpPr>
        <p:spPr>
          <a:xfrm>
            <a:off x="685800" y="5372558"/>
            <a:ext cx="102616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Baseline Preservation: Original claim values are preserved without loss of underlying distribution statistics.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Isolation: Strict split protocols prevent target leakage during residual feature modeling and anomaly detection.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Triage: Out of bounds or incomplete claims are isolated into a dedicated data quality queue rather than biasing the risk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C2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1155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4184F"/>
                </a:solidFill>
                <a:latin typeface="Times New Roman"/>
              </a:defRPr>
            </a:pPr>
            <a:r>
              <a:t>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5366"/>
                </a:solidFill>
                <a:latin typeface="Times New Roman"/>
              </a:defRPr>
            </a:pPr>
            <a:r>
              <a:rPr sz="1200" dirty="0" err="1"/>
              <a:t>ClaimSignal</a:t>
            </a:r>
            <a:r>
              <a:rPr sz="1200" dirty="0"/>
              <a:t> combines deterministic ML prioritization with a grounded LLM review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686220"/>
            <a:ext cx="2450592" cy="1170432"/>
          </a:xfrm>
          <a:prstGeom prst="roundRect">
            <a:avLst/>
          </a:prstGeom>
          <a:solidFill>
            <a:srgbClr val="F3ECF8"/>
          </a:solidFill>
          <a:ln>
            <a:solidFill>
              <a:srgbClr val="704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777660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C2475"/>
                </a:solidFill>
                <a:latin typeface="Times New Roman"/>
              </a:defRPr>
            </a:pPr>
            <a:r>
              <a:rPr sz="1100" dirty="0"/>
              <a:t>1. CMS Synthetic Claims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2006260"/>
            <a:ext cx="2231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61F2D"/>
                </a:solidFill>
                <a:latin typeface="Times New Roman"/>
              </a:defRPr>
            </a:pPr>
            <a:r>
              <a:rPr sz="1000" dirty="0"/>
              <a:t>Ingestion, quality validation &amp;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211598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D5366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686220"/>
            <a:ext cx="2450592" cy="1170432"/>
          </a:xfrm>
          <a:prstGeom prst="roundRect">
            <a:avLst/>
          </a:prstGeom>
          <a:solidFill>
            <a:srgbClr val="F3ECF8"/>
          </a:solidFill>
          <a:ln>
            <a:solidFill>
              <a:srgbClr val="704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1741084"/>
            <a:ext cx="3127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C2475"/>
                </a:solidFill>
                <a:latin typeface="Times New Roman"/>
              </a:defRPr>
            </a:pPr>
            <a:r>
              <a:rPr lang="en-US" sz="1100" dirty="0"/>
              <a:t>2. Segmentation &amp; Peer Benchmarks</a:t>
            </a:r>
            <a:endParaRPr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3419856" y="2006260"/>
            <a:ext cx="2231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61F2D"/>
                </a:solidFill>
                <a:latin typeface="Times New Roman"/>
              </a:defRPr>
            </a:pPr>
            <a:r>
              <a:rPr sz="1000" dirty="0"/>
              <a:t>K-Means billing-behavior segments; HCPCS-aware benchmarks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211598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D5366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686220"/>
            <a:ext cx="2450592" cy="1170432"/>
          </a:xfrm>
          <a:prstGeom prst="roundRect">
            <a:avLst/>
          </a:prstGeom>
          <a:solidFill>
            <a:srgbClr val="F3ECF8"/>
          </a:solidFill>
          <a:ln>
            <a:solidFill>
              <a:srgbClr val="704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777660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C2475"/>
                </a:solidFill>
                <a:latin typeface="Times New Roman"/>
              </a:defRPr>
            </a:pPr>
            <a:r>
              <a:rPr sz="1100" dirty="0"/>
              <a:t>3. Synthetic Scenario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06260"/>
            <a:ext cx="2231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61F2D"/>
                </a:solidFill>
                <a:latin typeface="Times New Roman"/>
              </a:defRPr>
            </a:pPr>
            <a:r>
              <a:rPr sz="1000" dirty="0"/>
              <a:t>Implemented: price deviation &amp; duplicate-like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11598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D5366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1686220"/>
            <a:ext cx="2450592" cy="1170432"/>
          </a:xfrm>
          <a:prstGeom prst="roundRect">
            <a:avLst/>
          </a:prstGeom>
          <a:solidFill>
            <a:srgbClr val="F3ECF8"/>
          </a:solidFill>
          <a:ln>
            <a:solidFill>
              <a:srgbClr val="704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72016" y="1777660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C2475"/>
                </a:solidFill>
                <a:latin typeface="Times New Roman"/>
              </a:defRPr>
            </a:pPr>
            <a:r>
              <a:rPr sz="1100" dirty="0"/>
              <a:t>4. Expected-Payment 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006260"/>
            <a:ext cx="2231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61F2D"/>
                </a:solidFill>
                <a:latin typeface="Times New Roman"/>
              </a:defRPr>
            </a:pPr>
            <a:r>
              <a:rPr sz="1000" dirty="0"/>
              <a:t>Peer benchmark / Ridge comparison; residual &amp; surge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7905" y="3579028"/>
            <a:ext cx="2450592" cy="1170432"/>
          </a:xfrm>
          <a:prstGeom prst="roundRect">
            <a:avLst/>
          </a:prstGeom>
          <a:solidFill>
            <a:srgbClr val="F3ECF8"/>
          </a:solidFill>
          <a:ln>
            <a:solidFill>
              <a:srgbClr val="704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47633" y="3670468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C2475"/>
                </a:solidFill>
                <a:latin typeface="Times New Roman"/>
              </a:defRPr>
            </a:pPr>
            <a:r>
              <a:rPr lang="en-US" sz="1100" dirty="0"/>
              <a:t>5. Multivariate Risk Model</a:t>
            </a:r>
            <a:endParaRPr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9247633" y="3899068"/>
            <a:ext cx="2231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61F2D"/>
                </a:solidFill>
                <a:latin typeface="Times New Roman"/>
              </a:defRPr>
            </a:pPr>
            <a:r>
              <a:rPr sz="1000" dirty="0"/>
              <a:t>Cluster-stratified Isolation Forest</a:t>
            </a:r>
          </a:p>
        </p:txBody>
      </p:sp>
      <p:sp>
        <p:nvSpPr>
          <p:cNvPr id="24" name="TextBox 23"/>
          <p:cNvSpPr txBox="1"/>
          <p:nvPr/>
        </p:nvSpPr>
        <p:spPr>
          <a:xfrm rot="10800000">
            <a:off x="2852928" y="405451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D5366"/>
                </a:solidFill>
                <a:latin typeface="Times New Roman"/>
              </a:defRPr>
            </a:pPr>
            <a:r>
              <a:rPr dirty="0"/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569883"/>
            <a:ext cx="2450592" cy="1170432"/>
          </a:xfrm>
          <a:prstGeom prst="roundRect">
            <a:avLst/>
          </a:prstGeom>
          <a:solidFill>
            <a:srgbClr val="F3ECF8"/>
          </a:solidFill>
          <a:ln>
            <a:solidFill>
              <a:srgbClr val="704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45936" y="3661323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C2475"/>
                </a:solidFill>
                <a:latin typeface="Times New Roman"/>
              </a:defRPr>
            </a:pPr>
            <a:r>
              <a:rPr sz="1100" dirty="0"/>
              <a:t>6. Ensemble Fusion &amp; Tiers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889923"/>
            <a:ext cx="2231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61F2D"/>
                </a:solidFill>
                <a:latin typeface="Times New Roman"/>
              </a:defRPr>
            </a:pPr>
            <a:r>
              <a:rPr sz="1000" dirty="0"/>
              <a:t>Stage 4 + Stage 5 → audit priority score</a:t>
            </a:r>
          </a:p>
        </p:txBody>
      </p:sp>
      <p:sp>
        <p:nvSpPr>
          <p:cNvPr id="28" name="TextBox 27"/>
          <p:cNvSpPr txBox="1"/>
          <p:nvPr/>
        </p:nvSpPr>
        <p:spPr>
          <a:xfrm rot="10800000">
            <a:off x="5779008" y="405451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D5366"/>
                </a:solidFill>
                <a:latin typeface="Times New Roman"/>
              </a:defRPr>
            </a:pPr>
            <a:r>
              <a:rPr dirty="0"/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82696" y="3573947"/>
            <a:ext cx="2450592" cy="1170432"/>
          </a:xfrm>
          <a:prstGeom prst="roundRect">
            <a:avLst/>
          </a:prstGeom>
          <a:solidFill>
            <a:srgbClr val="F3ECF8"/>
          </a:solidFill>
          <a:ln>
            <a:solidFill>
              <a:srgbClr val="704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92424" y="3665387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C2475"/>
                </a:solidFill>
                <a:latin typeface="Times New Roman"/>
              </a:defRPr>
            </a:pPr>
            <a:r>
              <a:rPr sz="1100" dirty="0"/>
              <a:t>7. Grounded Review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2424" y="3893987"/>
            <a:ext cx="2231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61F2D"/>
                </a:solidFill>
                <a:latin typeface="Times New Roman"/>
              </a:defRPr>
            </a:pPr>
            <a:r>
              <a:rPr sz="1000" dirty="0" err="1"/>
              <a:t>Groq</a:t>
            </a:r>
            <a:r>
              <a:rPr sz="1000" dirty="0"/>
              <a:t> LLM generates validated </a:t>
            </a:r>
            <a:r>
              <a:rPr sz="1000" dirty="0" err="1"/>
              <a:t>Pydantic</a:t>
            </a:r>
            <a:r>
              <a:rPr sz="1000" dirty="0"/>
              <a:t> memo</a:t>
            </a:r>
          </a:p>
        </p:txBody>
      </p:sp>
      <p:sp>
        <p:nvSpPr>
          <p:cNvPr id="32" name="TextBox 31"/>
          <p:cNvSpPr txBox="1"/>
          <p:nvPr/>
        </p:nvSpPr>
        <p:spPr>
          <a:xfrm rot="10800000">
            <a:off x="8705088" y="405451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D5366"/>
                </a:solidFill>
                <a:latin typeface="Times New Roman"/>
              </a:defRPr>
            </a:pPr>
            <a:r>
              <a:rPr dirty="0"/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7" y="3548887"/>
            <a:ext cx="2450592" cy="1170432"/>
          </a:xfrm>
          <a:prstGeom prst="roundRect">
            <a:avLst/>
          </a:prstGeom>
          <a:solidFill>
            <a:srgbClr val="F3ECF8"/>
          </a:solidFill>
          <a:ln>
            <a:solidFill>
              <a:srgbClr val="704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5" y="3640327"/>
            <a:ext cx="2231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C2475"/>
                </a:solidFill>
                <a:latin typeface="Times New Roman"/>
              </a:defRPr>
            </a:pPr>
            <a:r>
              <a:rPr sz="1100" dirty="0"/>
              <a:t>8. </a:t>
            </a:r>
            <a:r>
              <a:rPr sz="1100" dirty="0" err="1"/>
              <a:t>Streamlit</a:t>
            </a:r>
            <a:r>
              <a:rPr sz="1100" dirty="0"/>
              <a:t> Analyst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" y="3868927"/>
            <a:ext cx="2231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61F2D"/>
                </a:solidFill>
                <a:latin typeface="Times New Roman"/>
              </a:defRPr>
            </a:pPr>
            <a:r>
              <a:rPr sz="1000" dirty="0"/>
              <a:t>Inspect evidence and hand off to human reviewer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7564" y="3093729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D5366"/>
                </a:solidFill>
                <a:latin typeface="Times New Roman"/>
              </a:defRPr>
            </a:pPr>
            <a:r>
              <a:rPr dirty="0"/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37376"/>
            <a:ext cx="4114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5366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45" name="L-Shape 44">
            <a:extLst>
              <a:ext uri="{FF2B5EF4-FFF2-40B4-BE49-F238E27FC236}">
                <a16:creationId xmlns:a16="http://schemas.microsoft.com/office/drawing/2014/main" id="{C420D977-F9FF-7B31-56C2-C317270ACCB3}"/>
              </a:ext>
            </a:extLst>
          </p:cNvPr>
          <p:cNvSpPr/>
          <p:nvPr/>
        </p:nvSpPr>
        <p:spPr>
          <a:xfrm rot="10800000">
            <a:off x="254000" y="1380066"/>
            <a:ext cx="11444224" cy="3556649"/>
          </a:xfrm>
          <a:prstGeom prst="corner">
            <a:avLst>
              <a:gd name="adj1" fmla="val 50000"/>
              <a:gd name="adj2" fmla="val 157123"/>
            </a:avLst>
          </a:prstGeo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DCA1A4-B232-F83A-374B-CFFF2D17AB2A}"/>
              </a:ext>
            </a:extLst>
          </p:cNvPr>
          <p:cNvSpPr txBox="1"/>
          <p:nvPr/>
        </p:nvSpPr>
        <p:spPr>
          <a:xfrm>
            <a:off x="7661147" y="1036038"/>
            <a:ext cx="27279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5366"/>
                </a:solidFill>
                <a:latin typeface="Times New Roman"/>
              </a:defRPr>
            </a:pPr>
            <a:r>
              <a:rPr lang="en-US" sz="1200" b="1" dirty="0"/>
              <a:t>Phase 1: Deterministic Risk Scoring</a:t>
            </a:r>
            <a:endParaRPr sz="12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716DFF-C348-C8DD-780C-3FBEC87BDE85}"/>
              </a:ext>
            </a:extLst>
          </p:cNvPr>
          <p:cNvSpPr txBox="1"/>
          <p:nvPr/>
        </p:nvSpPr>
        <p:spPr>
          <a:xfrm>
            <a:off x="1223262" y="5200936"/>
            <a:ext cx="3579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D5366"/>
                </a:solidFill>
                <a:latin typeface="Times New Roman"/>
              </a:defRPr>
            </a:pPr>
            <a:r>
              <a:rPr lang="en-US" sz="1200" b="1" dirty="0"/>
              <a:t>Phase 2: Governed Generative Contextualization</a:t>
            </a:r>
            <a:endParaRPr sz="1200" b="1" dirty="0"/>
          </a:p>
        </p:txBody>
      </p:sp>
      <p:sp>
        <p:nvSpPr>
          <p:cNvPr id="51" name="Right Brace 50">
            <a:extLst>
              <a:ext uri="{FF2B5EF4-FFF2-40B4-BE49-F238E27FC236}">
                <a16:creationId xmlns:a16="http://schemas.microsoft.com/office/drawing/2014/main" id="{4D7ABAE8-E1B1-3F7C-ED02-838E82961ACD}"/>
              </a:ext>
            </a:extLst>
          </p:cNvPr>
          <p:cNvSpPr/>
          <p:nvPr/>
        </p:nvSpPr>
        <p:spPr>
          <a:xfrm rot="5400000">
            <a:off x="2901962" y="2391894"/>
            <a:ext cx="400109" cy="5202938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C2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4184F"/>
                </a:solidFill>
                <a:latin typeface="Times New Roman"/>
              </a:defRPr>
            </a:pPr>
            <a:r>
              <a:rPr lang="en-US" sz="2500" b="1" dirty="0"/>
              <a:t>Mathematical Foundations, Multi Tier LLM Governance &amp; Scalability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188719"/>
            <a:ext cx="10972800" cy="941833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82296" cy="941832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16152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184F"/>
                </a:solidFill>
                <a:latin typeface="Times New Roman"/>
              </a:defRPr>
            </a:pPr>
            <a:r>
              <a:rPr lang="en-US" sz="1400" b="1" dirty="0"/>
              <a:t>Dual Engine Quantitative Architecture</a:t>
            </a:r>
          </a:p>
          <a:p>
            <a:pPr algn="ctr">
              <a:defRPr sz="1400" b="1">
                <a:solidFill>
                  <a:srgbClr val="34184F"/>
                </a:solidFill>
                <a:latin typeface="Times New Roman"/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1576590"/>
            <a:ext cx="106619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Baseline (Ridge Regression): Establishes linear fee expectations conditioned on HCPCS procedure code benchmarks.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Parametric Outlier Detection (Cluster Stratified Isolation Forest): Detects non linear, high dimensional billing anomalies within peer groups without assuming normality.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Fusion Engine: Combines residual price variance with multivariate isolation scores to create a robust, unified Audit Priority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13093"/>
            <a:ext cx="10972800" cy="1005840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313093"/>
            <a:ext cx="82296" cy="1005840"/>
          </a:xfrm>
          <a:prstGeom prst="rect">
            <a:avLst/>
          </a:prstGeom>
          <a:solidFill>
            <a:srgbClr val="70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57807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184F"/>
                </a:solidFill>
                <a:latin typeface="Times New Roman"/>
              </a:defRPr>
            </a:pPr>
            <a:r>
              <a:rPr lang="en-US" sz="1400" b="1" dirty="0"/>
              <a:t>Multi Layered AI Trust and Safety Framework</a:t>
            </a:r>
          </a:p>
          <a:p>
            <a:pPr algn="ctr">
              <a:defRPr sz="1400" b="1">
                <a:solidFill>
                  <a:srgbClr val="34184F"/>
                </a:solidFill>
                <a:latin typeface="Times New Roman"/>
              </a:defRPr>
            </a:pP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7240" y="2770293"/>
            <a:ext cx="106619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Pre Scoring: Prioritization is strictly mathematical; the LLM cannot manipulate risk scores or rankings.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Boundary Constraints: Prohibited terms filter prevents illegal legal or clinical assertions such as fraud or claim denial.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Enforced Generation: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guarantees typed, deterministic LLM outputs that match human analyst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10618"/>
            <a:ext cx="10972800" cy="841248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510618"/>
            <a:ext cx="82296" cy="841248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00231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184F"/>
                </a:solidFill>
                <a:latin typeface="Times New Roman"/>
              </a:defRPr>
            </a:pPr>
            <a:r>
              <a:rPr dirty="0"/>
              <a:t>Data-quality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67818"/>
            <a:ext cx="10661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rPr dirty="0"/>
              <a:t>Incomplete claim lines are dynamically routed to data-quality queues rather than risk queues; the human analyst retains the final audit determination.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635669"/>
            <a:ext cx="10972800" cy="1097280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4635669"/>
            <a:ext cx="82296" cy="1097280"/>
          </a:xfrm>
          <a:prstGeom prst="rect">
            <a:avLst/>
          </a:prstGeom>
          <a:solidFill>
            <a:srgbClr val="70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748516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184F"/>
                </a:solidFill>
                <a:latin typeface="Times New Roman"/>
              </a:defRPr>
            </a:pPr>
            <a:r>
              <a:rPr dirty="0"/>
              <a:t>Future scope &amp;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92869"/>
            <a:ext cx="106619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Networks (GNNs): Modeling complex relationships between providers, patients, and procedure codes.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Governed Agentic Workflow: Integrating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Retrieval Augmented Generation (RAG) for automated CMS policy lookups.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 Calibration: Incorporating analyst disposition data to dynamically adjust risk thresholds over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37376"/>
            <a:ext cx="4114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5366"/>
                </a:solidFill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C2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1155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4184F"/>
                </a:solidFill>
                <a:latin typeface="Times New Roman"/>
              </a:defRPr>
            </a:pPr>
            <a:r>
              <a:t>Live Proof of Concept: Streamlit Dashboard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89888"/>
            <a:ext cx="1097280" cy="393192"/>
          </a:xfrm>
          <a:prstGeom prst="rect">
            <a:avLst/>
          </a:prstGeom>
          <a:solidFill>
            <a:srgbClr val="341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1490472"/>
            <a:ext cx="9509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389888"/>
            <a:ext cx="3840480" cy="393192"/>
          </a:xfrm>
          <a:prstGeom prst="rect">
            <a:avLst/>
          </a:prstGeom>
          <a:solidFill>
            <a:srgbClr val="341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93392" y="1490472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Interactive 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389888"/>
            <a:ext cx="5440680" cy="393192"/>
          </a:xfrm>
          <a:prstGeom prst="rect">
            <a:avLst/>
          </a:prstGeom>
          <a:solidFill>
            <a:srgbClr val="341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62472" y="1490472"/>
            <a:ext cx="5294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t>Analyst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792224"/>
            <a:ext cx="10972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1" y="1938528"/>
            <a:ext cx="950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1F2D"/>
                </a:solidFill>
                <a:latin typeface="Times New Roman"/>
              </a:defRPr>
            </a:pPr>
            <a:r>
              <a:rPr dirty="0"/>
              <a:t>1. Triage queue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1792224"/>
            <a:ext cx="38404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93392" y="1938528"/>
            <a:ext cx="3694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1F2D"/>
                </a:solidFill>
                <a:latin typeface="Times New Roman"/>
              </a:defRPr>
            </a:pPr>
            <a:r>
              <a:t>Top summary metrics and filtered data frame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792224"/>
            <a:ext cx="54406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62472" y="1938528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1F2D"/>
                </a:solidFill>
                <a:latin typeface="Times New Roman"/>
              </a:defRPr>
            </a:pPr>
            <a:r>
              <a:t>Instantly surfaces claims sorted by Audit Priority Score.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51176"/>
            <a:ext cx="10972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1" y="2697480"/>
            <a:ext cx="950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2. Claim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551176"/>
            <a:ext cx="38404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93392" y="2697480"/>
            <a:ext cx="3694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Readable dropdown selector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551176"/>
            <a:ext cx="54406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62472" y="2697480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Isolates elevated/extreme claims for granular inspection.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10128"/>
            <a:ext cx="10972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1" y="3456432"/>
            <a:ext cx="950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3. Evidence panel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310128"/>
            <a:ext cx="38404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93392" y="3456432"/>
            <a:ext cx="3694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Two-column payment and risk-signal breakdown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310128"/>
            <a:ext cx="54406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62472" y="3456432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Shows deterministic Stage 4 price and Stage 5 multivariate drivers.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69080"/>
            <a:ext cx="10972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0" y="4215384"/>
            <a:ext cx="12527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4. On-demand memo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4069080"/>
            <a:ext cx="38404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93392" y="4215384"/>
            <a:ext cx="3694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“Generate Grounded Review Memo” button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069080"/>
            <a:ext cx="54406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62472" y="4215384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Executes a single Groq inference with live schema and grounding checks.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828032"/>
            <a:ext cx="10972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1" y="4974336"/>
            <a:ext cx="950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5. Human handoff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4828032"/>
            <a:ext cx="38404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93392" y="4974336"/>
            <a:ext cx="3694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Grounded audit summary and verification checklist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828032"/>
            <a:ext cx="5440680" cy="658368"/>
          </a:xfrm>
          <a:prstGeom prst="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62472" y="497433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1F2D"/>
                </a:solidFill>
                <a:latin typeface="Times New Roman"/>
              </a:defRPr>
            </a:pPr>
            <a:r>
              <a:t>Supports the analyst’s final audit determination; no automatic action.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583680"/>
            <a:ext cx="4114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5366"/>
                </a:solidFill>
                <a:latin typeface="Times New Roman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467"/>
            <a:ext cx="12191695" cy="146304"/>
          </a:xfrm>
          <a:prstGeom prst="rect">
            <a:avLst/>
          </a:prstGeom>
          <a:solidFill>
            <a:srgbClr val="4C2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C2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34184F"/>
                </a:solidFill>
                <a:latin typeface="Times New Roman"/>
              </a:defRPr>
            </a:pPr>
            <a:r>
              <a:rPr dirty="0"/>
              <a:t>Thank You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2475"/>
                </a:solidFill>
                <a:latin typeface="Times New Roman"/>
              </a:defRPr>
            </a:pPr>
            <a:r>
              <a:t>ClaimSignal: Grounded, Human-in-the-Loop AI for Payment-Integrity Claim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2944368"/>
            <a:ext cx="8275320" cy="1051560"/>
          </a:xfrm>
          <a:prstGeom prst="roundRect">
            <a:avLst/>
          </a:prstGeom>
          <a:solidFill>
            <a:srgbClr val="F3ECF8"/>
          </a:solidFill>
          <a:ln>
            <a:solidFill>
              <a:srgbClr val="D2B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2944368"/>
            <a:ext cx="82296" cy="1051560"/>
          </a:xfrm>
          <a:prstGeom prst="rect">
            <a:avLst/>
          </a:prstGeom>
          <a:solidFill>
            <a:srgbClr val="70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40" y="3081528"/>
            <a:ext cx="8001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184F"/>
                </a:solidFill>
                <a:latin typeface="Times New Roman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401568"/>
            <a:ext cx="796442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1F2D"/>
                </a:solidFill>
                <a:latin typeface="Times New Roman"/>
              </a:defRPr>
            </a:pPr>
            <a:r>
              <a:rPr dirty="0"/>
              <a:t>A</a:t>
            </a:r>
            <a:r>
              <a:rPr lang="en-US" dirty="0"/>
              <a:t> mathematically</a:t>
            </a:r>
            <a:r>
              <a:rPr dirty="0"/>
              <a:t> transparent ML and grounded-LLM</a:t>
            </a:r>
            <a:r>
              <a:rPr lang="en-US" dirty="0"/>
              <a:t>, </a:t>
            </a:r>
            <a:r>
              <a:rPr lang="en-US" sz="1300" dirty="0"/>
              <a:t>multi model architecture that eliminates LLM hallucination in healthcare claim triage.</a:t>
            </a:r>
            <a:r>
              <a:rPr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61F2D"/>
                </a:solidFill>
                <a:latin typeface="Times New Roman"/>
              </a:defRPr>
            </a:pPr>
            <a:r>
              <a:t>Aishwarya Pawar | Doctorate in Information Technology | Trine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493" y="521208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5366"/>
                </a:solidFill>
                <a:latin typeface="Times New Roman"/>
              </a:defRPr>
            </a:pPr>
            <a:r>
              <a:rPr lang="en-US" dirty="0"/>
              <a:t>Pawar.ash17@gmail.com</a:t>
            </a:r>
            <a:br>
              <a:rPr lang="en-US" dirty="0"/>
            </a:br>
            <a:r>
              <a:rPr lang="en-US" dirty="0"/>
              <a:t>https://github.com/aishwarya00/claimsignal-payment-integrity-ai.git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1201400" y="6437376"/>
            <a:ext cx="4114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5366"/>
                </a:solidFill>
                <a:latin typeface="Times New Roman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856</Words>
  <Application>Microsoft Office PowerPoint</Application>
  <PresentationFormat>Widescreen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Pawar, Aishwarya Ramchandra</cp:lastModifiedBy>
  <cp:revision>12</cp:revision>
  <cp:lastPrinted>2026-08-15T02:40:48Z</cp:lastPrinted>
  <dcterms:created xsi:type="dcterms:W3CDTF">2013-01-27T09:14:16Z</dcterms:created>
  <dcterms:modified xsi:type="dcterms:W3CDTF">2026-08-15T03:42:02Z</dcterms:modified>
  <cp:category/>
</cp:coreProperties>
</file>